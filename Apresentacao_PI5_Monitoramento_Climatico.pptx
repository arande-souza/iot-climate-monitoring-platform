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  <p:sldId id="257" r:id="rId4"/>
    <p:sldId id="261" r:id="rId5"/>
    <p:sldId id="262" r:id="rId6"/>
    <p:sldId id="263" r:id="rId7"/>
    <p:sldId id="264" r:id="rId8"/>
    <p:sldId id="265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550CC4-94A6-1B0D-C829-6DECC760203F}" v="12" dt="2025-11-10T11:37:35.746"/>
    <p1510:client id="{B6499452-1293-2D23-0B92-1785067416E5}" v="25" dt="2025-11-10T11:25:50.1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 rot="20520000">
            <a:off x="-1427296" y="-916125"/>
            <a:ext cx="8186080" cy="1828800"/>
          </a:xfrm>
          <a:prstGeom prst="rect">
            <a:avLst/>
          </a:prstGeom>
          <a:solidFill>
            <a:srgbClr val="D13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6460" y="760703"/>
            <a:ext cx="1005840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204284" y="247083"/>
            <a:ext cx="7132320" cy="65058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>
              <a:ea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01984" y="765360"/>
            <a:ext cx="6901056" cy="107721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</a:defRPr>
            </a:pPr>
            <a:r>
              <a:rPr lang="en-US" sz="2000">
                <a:latin typeface="Times New Roman"/>
                <a:cs typeface="Times New Roman"/>
              </a:rPr>
              <a:t>UNIVERSIDADE VIRTUAL DO ESTADO DE SÃO PAULO</a:t>
            </a:r>
            <a:endParaRPr lang="pt-BR"/>
          </a:p>
          <a:p>
            <a:pPr algn="l">
              <a:defRPr sz="4400" b="1">
                <a:solidFill>
                  <a:srgbClr val="000000"/>
                </a:solidFill>
              </a:defRPr>
            </a:pPr>
            <a:endParaRPr>
              <a:ea typeface="Calibri"/>
              <a:cs typeface="Calibri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7F58DB9D-EF0A-3C8E-E048-8351DC4843B0}"/>
              </a:ext>
            </a:extLst>
          </p:cNvPr>
          <p:cNvSpPr txBox="1"/>
          <p:nvPr/>
        </p:nvSpPr>
        <p:spPr>
          <a:xfrm>
            <a:off x="3324777" y="2130609"/>
            <a:ext cx="2655471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</a:defRPr>
            </a:pPr>
            <a:r>
              <a:rPr lang="pt-BR" sz="2000">
                <a:latin typeface="Times New Roman"/>
                <a:cs typeface="Times New Roman"/>
              </a:rPr>
              <a:t>Projeto</a:t>
            </a:r>
            <a:r>
              <a:rPr lang="en-US" sz="2000">
                <a:latin typeface="Times New Roman"/>
                <a:cs typeface="Times New Roman"/>
              </a:rPr>
              <a:t/>
            </a:r>
            <a:r>
              <a:rPr lang="pt-BR" sz="2000">
                <a:latin typeface="Times New Roman"/>
                <a:cs typeface="Times New Roman"/>
              </a:rPr>
              <a:t>Integrador</a:t>
            </a:r>
            <a:r>
              <a:rPr lang="en-US" sz="2000">
                <a:latin typeface="Times New Roman"/>
                <a:cs typeface="Times New Roman"/>
              </a:rPr>
              <a:t>V</a:t>
            </a:r>
            <a:endParaRPr lang="pt-BR"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64C8F7D2-D354-3CEA-D586-8E1BC02B0228}"/>
              </a:ext>
            </a:extLst>
          </p:cNvPr>
          <p:cNvSpPr txBox="1"/>
          <p:nvPr/>
        </p:nvSpPr>
        <p:spPr>
          <a:xfrm>
            <a:off x="1205197" y="3432360"/>
            <a:ext cx="7138044" cy="169277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</a:defRPr>
            </a:pPr>
            <a:r>
              <a:rPr lang="pt-BR" sz="2000">
                <a:latin typeface="Times New Roman"/>
                <a:cs typeface="Times New Roman"/>
              </a:rPr>
              <a:t>Eixo Computação:</a:t>
            </a:r>
            <a:r>
              <a:rPr lang="pt-BR" sz="2000">
                <a:latin typeface="Times New Roman"/>
                <a:ea typeface="Calibri"/>
                <a:cs typeface="Times New Roman"/>
              </a:rPr>
              <a:t>Engenharia da Computação</a:t>
            </a:r>
          </a:p>
          <a:p>
            <a:pPr algn="ctr">
              <a:defRPr sz="4400" b="1">
                <a:solidFill>
                  <a:srgbClr val="000000"/>
                </a:solidFill>
              </a:defRPr>
            </a:pPr>
            <a:r>
              <a:rPr lang="pt-BR" sz="2000">
                <a:latin typeface="Times New Roman"/>
                <a:ea typeface="Calibri"/>
                <a:cs typeface="Times New Roman"/>
              </a:rPr>
              <a:t>Polo: Santo André, SP</a:t>
            </a:r>
          </a:p>
          <a:p>
            <a:pPr algn="ctr">
              <a:defRPr sz="4400" b="1">
                <a:solidFill>
                  <a:srgbClr val="000000"/>
                </a:solidFill>
              </a:defRPr>
            </a:pPr>
            <a:endParaRPr lang="en-US" sz="2000">
              <a:latin typeface="Times New Roman"/>
              <a:ea typeface="Calibri"/>
              <a:cs typeface="Times New Roman"/>
            </a:endParaRPr>
          </a:p>
          <a:p>
            <a:pPr>
              <a:defRPr sz="4400" b="1">
                <a:solidFill>
                  <a:srgbClr val="000000"/>
                </a:solidFill>
              </a:defRPr>
            </a:pPr>
            <a:endParaRPr lang="pt-BR">
              <a:ea typeface="Calibri"/>
              <a:cs typeface="Calibri"/>
            </a:endParaRP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4DCB1211-2E94-696E-44C7-9BA6351CE769}"/>
              </a:ext>
            </a:extLst>
          </p:cNvPr>
          <p:cNvSpPr txBox="1"/>
          <p:nvPr/>
        </p:nvSpPr>
        <p:spPr>
          <a:xfrm>
            <a:off x="3638651" y="6247525"/>
            <a:ext cx="2260555" cy="107721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</a:defRPr>
            </a:pPr>
            <a:r>
              <a:rPr lang="en-US" sz="1600">
                <a:latin typeface="Times New Roman"/>
                <a:cs typeface="Times New Roman"/>
              </a:rPr>
              <a:t/>
            </a:r>
            <a:r>
              <a:rPr lang="en-US" sz="2000">
                <a:latin typeface="Times New Roman"/>
                <a:cs typeface="Times New Roman"/>
              </a:rPr>
              <a:t/>
            </a:r>
            <a:endParaRPr lang="pt-BR"/>
          </a:p>
          <a:p>
            <a:pPr algn="l">
              <a:defRPr sz="4400" b="1">
                <a:solidFill>
                  <a:srgbClr val="000000"/>
                </a:solidFill>
              </a:defRPr>
            </a:pPr>
            <a:endParaRPr>
              <a:ea typeface="Calibri"/>
              <a:cs typeface="Calibri"/>
            </a:endParaRPr>
          </a:p>
        </p:txBody>
      </p:sp>
      <p:pic>
        <p:nvPicPr>
          <p:cNvPr id="6" name="Imagem 5" descr="Marca – Univesp">
            <a:extLst>
              <a:ext uri="{FF2B5EF4-FFF2-40B4-BE49-F238E27FC236}">
                <a16:creationId xmlns:a16="http://schemas.microsoft.com/office/drawing/2014/main" id="{46B7742D-4DE1-BA9D-B85A-9613BA6BA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7798" y="5781949"/>
            <a:ext cx="1926772" cy="10790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19E300-D419-0488-746C-ECC091B2B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E1D350-6581-6AEC-4018-8F5E20967F2D}"/>
              </a:ext>
            </a:extLst>
          </p:cNvPr>
          <p:cNvSpPr/>
          <p:nvPr/>
        </p:nvSpPr>
        <p:spPr>
          <a:xfrm rot="20520000">
            <a:off x="-1427296" y="-916125"/>
            <a:ext cx="8186080" cy="1828800"/>
          </a:xfrm>
          <a:prstGeom prst="rect">
            <a:avLst/>
          </a:prstGeom>
          <a:solidFill>
            <a:srgbClr val="D13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7DF221-EF38-51F4-0852-B5FF395315EC}"/>
              </a:ext>
            </a:extLst>
          </p:cNvPr>
          <p:cNvSpPr/>
          <p:nvPr/>
        </p:nvSpPr>
        <p:spPr>
          <a:xfrm>
            <a:off x="126460" y="760703"/>
            <a:ext cx="1005840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61431-7D6E-FB8A-14A0-D284B8C2D462}"/>
              </a:ext>
            </a:extLst>
          </p:cNvPr>
          <p:cNvSpPr/>
          <p:nvPr/>
        </p:nvSpPr>
        <p:spPr>
          <a:xfrm>
            <a:off x="1204284" y="247083"/>
            <a:ext cx="7132320" cy="65058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B9EA2A-72FC-53F5-6D52-0D0A5CBCDC0A}"/>
              </a:ext>
            </a:extLst>
          </p:cNvPr>
          <p:cNvSpPr txBox="1"/>
          <p:nvPr/>
        </p:nvSpPr>
        <p:spPr>
          <a:xfrm>
            <a:off x="1201984" y="765360"/>
            <a:ext cx="4461478" cy="107721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4400" b="1">
                <a:solidFill>
                  <a:srgbClr val="000000"/>
                </a:solidFill>
              </a:defRPr>
            </a:pPr>
            <a:r>
              <a:rPr lang="pt-BR" sz="2000">
                <a:latin typeface="Times New Roman"/>
                <a:ea typeface="Calibri"/>
                <a:cs typeface="Times New Roman"/>
              </a:rPr>
              <a:t>DRP01-PJI510 - PROJETO INTEGRADOR V</a:t>
            </a:r>
          </a:p>
          <a:p>
            <a:pPr>
              <a:defRPr sz="4400" b="1">
                <a:solidFill>
                  <a:srgbClr val="000000"/>
                </a:solidFill>
              </a:defRPr>
            </a:pPr>
            <a:endParaRPr lang="pt-BR">
              <a:ea typeface="Calibri"/>
              <a:cs typeface="Calibri"/>
            </a:endParaRPr>
          </a:p>
        </p:txBody>
      </p:sp>
      <p:pic>
        <p:nvPicPr>
          <p:cNvPr id="6" name="Imagem 5" descr="Marca – Univesp">
            <a:extLst>
              <a:ext uri="{FF2B5EF4-FFF2-40B4-BE49-F238E27FC236}">
                <a16:creationId xmlns:a16="http://schemas.microsoft.com/office/drawing/2014/main" id="{2866399B-DE6F-87CA-F667-CBD34A331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7798" y="5781949"/>
            <a:ext cx="1926772" cy="107908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88A20067-84F9-F342-CEAA-C65130B75F31}"/>
              </a:ext>
            </a:extLst>
          </p:cNvPr>
          <p:cNvSpPr txBox="1"/>
          <p:nvPr/>
        </p:nvSpPr>
        <p:spPr>
          <a:xfrm>
            <a:off x="1201316" y="1609530"/>
            <a:ext cx="6134877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latin typeface="Times New Roman"/>
                <a:cs typeface="Times New Roman"/>
              </a:rPr>
              <a:t>MILCA GUALTER CERQUEIRA DE ABREU, 23211356</a:t>
            </a:r>
          </a:p>
          <a:p>
            <a:r>
              <a:rPr lang="en-US" sz="1600">
                <a:latin typeface="Times New Roman"/>
                <a:cs typeface="Times New Roman"/>
              </a:rPr>
              <a:t>CESAR AUGUSTO DE LIMA ALMEIDA, 1400457</a:t>
            </a:r>
          </a:p>
          <a:p>
            <a:r>
              <a:rPr lang="en-US" sz="1600">
                <a:latin typeface="Times New Roman"/>
                <a:cs typeface="Times New Roman"/>
              </a:rPr>
              <a:t>PETERSON BENHAME DOS SANTOS, 1828731</a:t>
            </a:r>
          </a:p>
          <a:p>
            <a:r>
              <a:rPr lang="en-US" sz="1600">
                <a:latin typeface="Times New Roman"/>
                <a:cs typeface="Times New Roman"/>
              </a:rPr>
              <a:t>MURILO BUSON, 23218954</a:t>
            </a:r>
            <a:endParaRPr lang="pt-BR" sz="1600">
              <a:latin typeface="Times New Roman"/>
              <a:cs typeface="Times New Roman"/>
            </a:endParaRPr>
          </a:p>
          <a:p>
            <a:r>
              <a:rPr lang="en-US" sz="1600">
                <a:latin typeface="Times New Roman"/>
                <a:cs typeface="Times New Roman"/>
              </a:rPr>
              <a:t>ARANDÊ CRISTINA DA SILVA SOUZA, 2011438</a:t>
            </a:r>
          </a:p>
          <a:p>
            <a:r>
              <a:rPr lang="en-US" sz="1600">
                <a:latin typeface="Times New Roman"/>
                <a:cs typeface="Times New Roman"/>
              </a:rPr>
              <a:t>HUGO RAFAEL GONÇALVES GIANPIETRO COSTA, 1825563</a:t>
            </a:r>
          </a:p>
          <a:p>
            <a:r>
              <a:rPr lang="en-US" sz="1600">
                <a:latin typeface="Times New Roman"/>
                <a:cs typeface="Times New Roman"/>
              </a:rPr>
              <a:t>GABRIEL VENANCIO DA SILVA, 2231736</a:t>
            </a:r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D33FDA6-B4BD-881D-86CF-B57041DFAA17}"/>
              </a:ext>
            </a:extLst>
          </p:cNvPr>
          <p:cNvSpPr txBox="1"/>
          <p:nvPr/>
        </p:nvSpPr>
        <p:spPr>
          <a:xfrm>
            <a:off x="1201316" y="6111551"/>
            <a:ext cx="40004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>
                <a:latin typeface="Times New Roman"/>
                <a:cs typeface="Times New Roman"/>
              </a:rPr>
              <a:t>Tutora: Brenda Alessandra Munhoz</a:t>
            </a:r>
          </a:p>
          <a:p>
            <a:pPr algn="l"/>
            <a:endParaRPr lang="pt-BR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43716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 rot="5400000">
            <a:off x="8497357" y="258445"/>
            <a:ext cx="914400" cy="380576"/>
          </a:xfrm>
          <a:prstGeom prst="rect">
            <a:avLst/>
          </a:prstGeom>
          <a:solidFill>
            <a:srgbClr val="D13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7C2A890-98EB-01E1-D9C6-E98F1C898074}"/>
              </a:ext>
            </a:extLst>
          </p:cNvPr>
          <p:cNvSpPr/>
          <p:nvPr/>
        </p:nvSpPr>
        <p:spPr>
          <a:xfrm>
            <a:off x="93034" y="236499"/>
            <a:ext cx="5936404" cy="630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9A413B2-0E35-1D12-1BFC-59F099E1466E}"/>
              </a:ext>
            </a:extLst>
          </p:cNvPr>
          <p:cNvSpPr txBox="1"/>
          <p:nvPr/>
        </p:nvSpPr>
        <p:spPr>
          <a:xfrm>
            <a:off x="190499" y="910167"/>
            <a:ext cx="5513917" cy="32932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>
                <a:latin typeface="Times New Roman"/>
                <a:ea typeface="+mn-lt"/>
                <a:cs typeface="+mn-lt"/>
              </a:rPr>
              <a:t>Empresas do setor de tecnologia dependem de condições ambientais adequadas para preservar equipamentos, estabilidade operacional e conforto dos colaboradores. A ausência de monitoramento climático contínuo dificulta decisões sobre climatização, manutenção e investimentos.</a:t>
            </a:r>
            <a:endParaRPr lang="pt-BR" sz="1600">
              <a:ea typeface="Calibri"/>
              <a:cs typeface="Calibri"/>
            </a:endParaRPr>
          </a:p>
          <a:p>
            <a:endParaRPr lang="pt-BR" sz="1600">
              <a:latin typeface="Times New Roman"/>
              <a:ea typeface="+mn-lt"/>
              <a:cs typeface="+mn-lt"/>
            </a:endParaRPr>
          </a:p>
          <a:p>
            <a:endParaRPr lang="pt-BR" sz="1600">
              <a:latin typeface="Times New Roman"/>
              <a:ea typeface="+mn-lt"/>
              <a:cs typeface="+mn-lt"/>
            </a:endParaRPr>
          </a:p>
          <a:p>
            <a:r>
              <a:rPr lang="pt-BR" sz="1600">
                <a:latin typeface="Times New Roman"/>
                <a:ea typeface="+mn-lt"/>
                <a:cs typeface="+mn-lt"/>
              </a:rPr>
              <a:t>Este projeto propõe uma plataforma IoT para coletar, processar e apresentar dados de temperatura, umidade, CO2 e particulados em tempo real. A solução combina sensores, comunicação MQTT, API, banco de dados e dashboard para apoiar decisões baseadas em dados.</a:t>
            </a:r>
            <a:endParaRPr lang="pt-BR" sz="1600">
              <a:latin typeface="Times New Roman"/>
              <a:ea typeface="Calibri"/>
              <a:cs typeface="Calibri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580284A-2654-F728-5C2E-F9468584E7CE}"/>
              </a:ext>
            </a:extLst>
          </p:cNvPr>
          <p:cNvSpPr txBox="1"/>
          <p:nvPr/>
        </p:nvSpPr>
        <p:spPr>
          <a:xfrm>
            <a:off x="95250" y="349250"/>
            <a:ext cx="612774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latin typeface="Times New Roman"/>
                <a:ea typeface="Calibri"/>
                <a:cs typeface="Calibri"/>
              </a:rPr>
              <a:t>SISTEMA DE MONITORAMENTO CLIMÁTICO PARA OTIMIZAÇÃO DE AMBIENTES TECNOLÓGICOS</a:t>
            </a:r>
            <a:endParaRPr lang="pt-BR" b="1">
              <a:latin typeface="Times New Roman"/>
              <a:cs typeface="Times New Roman"/>
            </a:endParaRPr>
          </a:p>
        </p:txBody>
      </p:sp>
      <p:pic>
        <p:nvPicPr>
          <p:cNvPr id="3" name="Imagem 2" descr="Marca – Univesp">
            <a:extLst>
              <a:ext uri="{FF2B5EF4-FFF2-40B4-BE49-F238E27FC236}">
                <a16:creationId xmlns:a16="http://schemas.microsoft.com/office/drawing/2014/main" id="{F51CAF60-A5CB-7D3D-DEB2-35859A0C8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00" y="5781949"/>
            <a:ext cx="1926772" cy="10790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A22C96-2E6F-4052-129E-A32BE5013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48BA61E-AEA2-EBC1-F8D8-1B1A8C37EAE9}"/>
              </a:ext>
            </a:extLst>
          </p:cNvPr>
          <p:cNvSpPr/>
          <p:nvPr/>
        </p:nvSpPr>
        <p:spPr>
          <a:xfrm rot="5400000">
            <a:off x="8497357" y="258445"/>
            <a:ext cx="914400" cy="380576"/>
          </a:xfrm>
          <a:prstGeom prst="rect">
            <a:avLst/>
          </a:prstGeom>
          <a:solidFill>
            <a:srgbClr val="D13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2DD6FF8-47A7-2C87-9079-8680324D7A32}"/>
              </a:ext>
            </a:extLst>
          </p:cNvPr>
          <p:cNvSpPr/>
          <p:nvPr/>
        </p:nvSpPr>
        <p:spPr>
          <a:xfrm>
            <a:off x="93034" y="236499"/>
            <a:ext cx="5936404" cy="630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3B5036C-F86A-8E22-4930-2599EB479C73}"/>
              </a:ext>
            </a:extLst>
          </p:cNvPr>
          <p:cNvSpPr txBox="1"/>
          <p:nvPr/>
        </p:nvSpPr>
        <p:spPr>
          <a:xfrm>
            <a:off x="222249" y="889000"/>
            <a:ext cx="5683250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>
                <a:latin typeface="Times New Roman"/>
                <a:ea typeface="+mn-lt"/>
                <a:cs typeface="Times New Roman"/>
              </a:rPr>
              <a:t>Desenvolver um sistema IoT para captura, análise e processamento de dados climáticos em tempo real, com interface web para apoiar decisões relacionadas à climatização em ambientes corporativos.</a:t>
            </a:r>
            <a:endParaRPr lang="pt-BR" sz="1600">
              <a:latin typeface="Times New Roman"/>
              <a:cs typeface="Times New Roman"/>
            </a:endParaRPr>
          </a:p>
          <a:p>
            <a:endParaRPr lang="pt-BR">
              <a:latin typeface="Times New Roman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pt-BR" sz="1600">
              <a:latin typeface="Times New Roman"/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600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endParaRPr lang="pt-BR">
              <a:latin typeface="Times New Roman"/>
              <a:ea typeface="Calibri"/>
              <a:cs typeface="Calibri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17A0E0C-EE37-2E56-686D-F902CE5A8A0E}"/>
              </a:ext>
            </a:extLst>
          </p:cNvPr>
          <p:cNvSpPr txBox="1"/>
          <p:nvPr/>
        </p:nvSpPr>
        <p:spPr>
          <a:xfrm>
            <a:off x="95250" y="349250"/>
            <a:ext cx="612774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latin typeface="Times New Roman"/>
                <a:ea typeface="Calibri"/>
                <a:cs typeface="Calibri"/>
              </a:rPr>
              <a:t>OBJETIVO: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8DD2DAB-EAE5-C144-4542-E45DE2866B1E}"/>
              </a:ext>
            </a:extLst>
          </p:cNvPr>
          <p:cNvSpPr txBox="1"/>
          <p:nvPr/>
        </p:nvSpPr>
        <p:spPr>
          <a:xfrm>
            <a:off x="222250" y="2233083"/>
            <a:ext cx="5484283" cy="40318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>
                <a:latin typeface="Times New Roman"/>
                <a:cs typeface="Times New Roman"/>
              </a:rPr>
              <a:t>Sendo assim:</a:t>
            </a:r>
            <a:endParaRPr lang="pt-BR"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pt-BR" sz="1600">
                <a:latin typeface="Times New Roman"/>
                <a:cs typeface="Times New Roman"/>
              </a:rPr>
              <a:t>Identificar necessidades da empresa por entrevistas e observações.</a:t>
            </a:r>
            <a:endParaRPr lang="pt-BR"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endParaRPr lang="pt-BR" sz="1600">
              <a:latin typeface="Times New Roman"/>
              <a:cs typeface="Times New Roman"/>
            </a:endParaRPr>
          </a:p>
          <a:p>
            <a:pPr marL="285750" indent="-285750">
              <a:buFont typeface="Arial,Sans-Serif"/>
              <a:buChar char="•"/>
            </a:pPr>
            <a:r>
              <a:rPr lang="pt-BR" sz="1600">
                <a:latin typeface="Times New Roman"/>
                <a:cs typeface="Times New Roman"/>
              </a:rPr>
              <a:t>Levantar requisitos técnicos e operacionais do sistema.</a:t>
            </a:r>
          </a:p>
          <a:p>
            <a:pPr marL="285750" indent="-285750">
              <a:buFont typeface="Arial,Sans-Serif"/>
              <a:buChar char="•"/>
            </a:pPr>
            <a:endParaRPr lang="pt-BR" sz="1600">
              <a:latin typeface="Times New Roman"/>
              <a:cs typeface="Times New Roman"/>
            </a:endParaRPr>
          </a:p>
          <a:p>
            <a:pPr marL="285750" indent="-285750">
              <a:buFont typeface="Arial,Sans-Serif"/>
              <a:buChar char="•"/>
            </a:pPr>
            <a:r>
              <a:rPr lang="pt-BR" sz="1600">
                <a:latin typeface="Times New Roman"/>
                <a:cs typeface="Times New Roman"/>
              </a:rPr>
              <a:t>Pesquisar tecnologias de IoT, sensores, integração MQTT e APIs.</a:t>
            </a:r>
            <a:r>
              <a:rPr lang="pt-BR" sz="1600" err="1">
                <a:latin typeface="Times New Roman"/>
                <a:cs typeface="Times New Roman"/>
              </a:rPr>
              <a:t>Desenvolver protótipo funcional com coleta, processamento e visualização.</a:t>
            </a:r>
            <a:r>
              <a:rPr lang="pt-BR" sz="1600">
                <a:latin typeface="Times New Roman"/>
                <a:cs typeface="Times New Roman"/>
              </a:rPr>
              <a:t>Testar e validar a solução com dados simulados e feedback dos usuários.</a:t>
            </a:r>
            <a:r>
              <a:rPr lang="pt-BR" sz="1600" err="1">
                <a:latin typeface="Times New Roman"/>
                <a:cs typeface="Times New Roman"/>
              </a:rPr>
              <a:t>Analisar dados para propor melhorias e apoiar decisões preventivas.</a:t>
            </a:r>
            <a:r>
              <a:rPr lang="pt-BR" sz="1600">
                <a:latin typeface="Times New Roman"/>
                <a:cs typeface="Times New Roman"/>
              </a:rPr>
              <a:t/>
            </a:r>
          </a:p>
          <a:p>
            <a:pPr marL="285750" indent="-285750">
              <a:buFont typeface="Arial,Sans-Serif"/>
              <a:buChar char="•"/>
            </a:pPr>
            <a:endParaRPr lang="pt-BR" sz="1600">
              <a:latin typeface="Times New Roman"/>
              <a:cs typeface="Times New Roman"/>
            </a:endParaRPr>
          </a:p>
          <a:p>
            <a:pPr marL="285750" indent="-285750">
              <a:buFont typeface="Arial,Sans-Serif"/>
              <a:buChar char="•"/>
            </a:pPr>
            <a:r>
              <a:rPr lang="pt-BR" sz="1600">
                <a:latin typeface="Times New Roman"/>
                <a:cs typeface="Times New Roman"/>
              </a:rPr>
              <a:t/>
            </a:r>
          </a:p>
          <a:p>
            <a:pPr marL="285750" indent="-285750">
              <a:buFont typeface="Arial,Sans-Serif"/>
              <a:buChar char="•"/>
            </a:pPr>
            <a:endParaRPr lang="pt-BR" sz="1600">
              <a:latin typeface="Times New Roman"/>
              <a:cs typeface="Times New Roman"/>
            </a:endParaRPr>
          </a:p>
          <a:p>
            <a:pPr marL="285750" indent="-285750">
              <a:buFont typeface="Arial,Sans-Serif"/>
              <a:buChar char="•"/>
            </a:pPr>
            <a:r>
              <a:rPr lang="pt-BR" sz="1600">
                <a:latin typeface="Times New Roman"/>
                <a:cs typeface="Times New Roman"/>
              </a:rPr>
              <a:t/>
            </a:r>
          </a:p>
          <a:p>
            <a:pPr marL="285750" indent="-285750">
              <a:buFont typeface="Arial,Sans-Serif"/>
              <a:buChar char="•"/>
            </a:pPr>
            <a:endParaRPr lang="pt-BR" sz="1600">
              <a:latin typeface="Times New Roman"/>
              <a:cs typeface="Times New Roman"/>
            </a:endParaRPr>
          </a:p>
          <a:p>
            <a:pPr marL="285750" indent="-285750">
              <a:buFont typeface="Arial,Sans-Serif"/>
              <a:buChar char="•"/>
            </a:pPr>
            <a:r>
              <a:rPr lang="pt-BR" sz="1600">
                <a:latin typeface="Times New Roman"/>
                <a:cs typeface="Times New Roman"/>
              </a:rPr>
              <a:t/>
            </a:r>
            <a:endParaRPr lang="pt-BR">
              <a:ea typeface="Calibri"/>
              <a:cs typeface="Calibri"/>
            </a:endParaRPr>
          </a:p>
        </p:txBody>
      </p:sp>
      <p:pic>
        <p:nvPicPr>
          <p:cNvPr id="4" name="Imagem 3" descr="Marca – Univesp">
            <a:extLst>
              <a:ext uri="{FF2B5EF4-FFF2-40B4-BE49-F238E27FC236}">
                <a16:creationId xmlns:a16="http://schemas.microsoft.com/office/drawing/2014/main" id="{9BA77846-1235-C1FA-62C8-8EE71B036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00" y="5781949"/>
            <a:ext cx="1926772" cy="107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293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577DB5-AEE7-BF6C-3559-781D7FE7F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3442AE3-4699-B224-47E3-699BEDE82A9B}"/>
              </a:ext>
            </a:extLst>
          </p:cNvPr>
          <p:cNvSpPr/>
          <p:nvPr/>
        </p:nvSpPr>
        <p:spPr>
          <a:xfrm rot="5400000">
            <a:off x="8497357" y="258445"/>
            <a:ext cx="914400" cy="380576"/>
          </a:xfrm>
          <a:prstGeom prst="rect">
            <a:avLst/>
          </a:prstGeom>
          <a:solidFill>
            <a:srgbClr val="D13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85489F7-38A7-A3DA-91A8-25523179C659}"/>
              </a:ext>
            </a:extLst>
          </p:cNvPr>
          <p:cNvSpPr/>
          <p:nvPr/>
        </p:nvSpPr>
        <p:spPr>
          <a:xfrm>
            <a:off x="93034" y="236499"/>
            <a:ext cx="5936404" cy="630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993D8F3-DF52-76FA-8E87-2C5F29E60F82}"/>
              </a:ext>
            </a:extLst>
          </p:cNvPr>
          <p:cNvSpPr txBox="1"/>
          <p:nvPr/>
        </p:nvSpPr>
        <p:spPr>
          <a:xfrm>
            <a:off x="222249" y="889000"/>
            <a:ext cx="5683250" cy="38472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 i="1">
                <a:latin typeface="Times New Roman"/>
                <a:ea typeface="+mn-lt"/>
                <a:cs typeface="Times New Roman"/>
              </a:rPr>
              <a:t>A falta de monitoramento contínuo pode gerar desconforto térmico, queda de produtividade e desgaste acelerado de equipamentos sensíveis. Com dados confiáveis, a empresa pode identificar variações ambientais, agir preventivamente e planejar melhor investimentos em climatização e infraestrutura. O projeto delimita-se ao monitoramento ambiental de ambientes tecnológicos, com foco em protótipo funcional para temperatura, umidade e qualidade do ar.</a:t>
            </a:r>
            <a:endParaRPr lang="pt-BR" sz="1600" i="1">
              <a:ea typeface="Calibri"/>
              <a:cs typeface="Calibri"/>
            </a:endParaRPr>
          </a:p>
          <a:p>
            <a:pPr algn="just"/>
            <a:endParaRPr lang="pt-BR" sz="1600">
              <a:latin typeface="Times New Roman"/>
              <a:ea typeface="Calibri"/>
              <a:cs typeface="Times New Roman"/>
            </a:endParaRPr>
          </a:p>
          <a:p>
            <a:endParaRPr lang="pt-BR">
              <a:latin typeface="Times New Roman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pt-BR" sz="1600">
              <a:latin typeface="Times New Roman"/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600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endParaRPr lang="pt-BR">
              <a:latin typeface="Times New Roman"/>
              <a:ea typeface="Calibri"/>
              <a:cs typeface="Calibri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9FCAB4F-DB4C-ADEA-EF31-DAC9B001A975}"/>
              </a:ext>
            </a:extLst>
          </p:cNvPr>
          <p:cNvSpPr txBox="1"/>
          <p:nvPr/>
        </p:nvSpPr>
        <p:spPr>
          <a:xfrm>
            <a:off x="95250" y="349250"/>
            <a:ext cx="612774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latin typeface="Times New Roman"/>
                <a:ea typeface="Calibri"/>
                <a:cs typeface="Calibri"/>
              </a:rPr>
              <a:t>JUSTIFICATIVA E DELIMITAÇÃO DO PROBLEMA</a:t>
            </a:r>
            <a:endParaRPr lang="pt-BR">
              <a:latin typeface="Calibri"/>
              <a:ea typeface="Calibri"/>
              <a:cs typeface="Calibri"/>
            </a:endParaRPr>
          </a:p>
        </p:txBody>
      </p:sp>
      <p:pic>
        <p:nvPicPr>
          <p:cNvPr id="3" name="Imagem 2" descr="Marca – Univesp">
            <a:extLst>
              <a:ext uri="{FF2B5EF4-FFF2-40B4-BE49-F238E27FC236}">
                <a16:creationId xmlns:a16="http://schemas.microsoft.com/office/drawing/2014/main" id="{6B4AB338-EFA6-CFCE-2E7B-B7286A22F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00" y="5781949"/>
            <a:ext cx="1926772" cy="107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447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2504FF-5BC7-6C5E-D8F8-67AB5B14C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6D4582A-3092-BDE4-ED31-6030BD70DDF1}"/>
              </a:ext>
            </a:extLst>
          </p:cNvPr>
          <p:cNvSpPr/>
          <p:nvPr/>
        </p:nvSpPr>
        <p:spPr>
          <a:xfrm rot="5400000">
            <a:off x="8497357" y="258445"/>
            <a:ext cx="914400" cy="380576"/>
          </a:xfrm>
          <a:prstGeom prst="rect">
            <a:avLst/>
          </a:prstGeom>
          <a:solidFill>
            <a:srgbClr val="D13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AE12D44-5470-C323-EEB6-D2EA1248C876}"/>
              </a:ext>
            </a:extLst>
          </p:cNvPr>
          <p:cNvSpPr/>
          <p:nvPr/>
        </p:nvSpPr>
        <p:spPr>
          <a:xfrm>
            <a:off x="93034" y="236499"/>
            <a:ext cx="5936404" cy="630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12E9B40-C722-3280-0838-4C5B4F72A36C}"/>
              </a:ext>
            </a:extLst>
          </p:cNvPr>
          <p:cNvSpPr txBox="1"/>
          <p:nvPr/>
        </p:nvSpPr>
        <p:spPr>
          <a:xfrm>
            <a:off x="222249" y="889000"/>
            <a:ext cx="5683250" cy="58169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pt-BR" sz="1600" i="1">
                <a:latin typeface="Times New Roman"/>
                <a:ea typeface="Calibri"/>
                <a:cs typeface="Times New Roman"/>
              </a:rPr>
              <a:t>A Internet das Coisas permite conectar dispositivos físicos a sistemas computacionais, viabilizando coleta contínua, monitoramento remoto e respostas orientadas por dados.</a:t>
            </a:r>
            <a:endParaRPr lang="pt-BR" sz="16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endParaRPr lang="pt-BR" sz="1600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pt-BR" sz="1600" i="1">
                <a:latin typeface="Times New Roman"/>
                <a:ea typeface="Calibri"/>
                <a:cs typeface="Times New Roman"/>
              </a:rPr>
              <a:t>A fundamentação teórica apoia-se em IoT, sensores inteligentes e monitoramento climático aplicado a ambientes tecnológicos. Temperatura, umidade, CO2 e material particulado são variáveis relevantes para conforto humano, vida útil de equipamentos e eficiência operacional.</a:t>
            </a:r>
            <a:endParaRPr lang="pt-BR" sz="16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endParaRPr lang="pt-BR" sz="1600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pt-BR" sz="1600" i="1">
                <a:latin typeface="Times New Roman"/>
                <a:ea typeface="Calibri"/>
                <a:cs typeface="Times New Roman"/>
              </a:rPr>
              <a:t>Na aplicação desenvolvida, a arquitetura segue o fluxo: Sensores IoT -&gt; ESP32 -&gt; MQTT Broker -&gt; Ingestor Python -&gt; PostgreSQL -&gt; API/Dashboard. Essa estrutura permite registrar leituras, classificar o ambiente e apresentar alertas para decisão.</a:t>
            </a:r>
            <a:endParaRPr lang="pt-BR" sz="1600">
              <a:latin typeface="Times New Roman"/>
              <a:cs typeface="Times New Roman"/>
            </a:endParaRPr>
          </a:p>
          <a:p>
            <a:pPr algn="just"/>
            <a:endParaRPr lang="pt-BR" sz="1600" i="1">
              <a:latin typeface="Times New Roman"/>
              <a:ea typeface="Calibri"/>
              <a:cs typeface="Times New Roman"/>
            </a:endParaRPr>
          </a:p>
          <a:p>
            <a:endParaRPr lang="pt-BR">
              <a:latin typeface="Times New Roman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pt-BR" sz="1600">
              <a:latin typeface="Times New Roman"/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600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endParaRPr lang="pt-BR">
              <a:latin typeface="Times New Roman"/>
              <a:ea typeface="Calibri"/>
              <a:cs typeface="Calibri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04A1F40-2768-D8CF-C24A-9A999C996F0E}"/>
              </a:ext>
            </a:extLst>
          </p:cNvPr>
          <p:cNvSpPr txBox="1"/>
          <p:nvPr/>
        </p:nvSpPr>
        <p:spPr>
          <a:xfrm>
            <a:off x="95250" y="349250"/>
            <a:ext cx="612774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latin typeface="Times New Roman"/>
                <a:ea typeface="Calibri"/>
                <a:cs typeface="Calibri"/>
              </a:rPr>
              <a:t>FUNDAMENTAÇÃO TEÓRICA E ARQUITETURA</a:t>
            </a:r>
          </a:p>
        </p:txBody>
      </p:sp>
      <p:pic>
        <p:nvPicPr>
          <p:cNvPr id="3" name="Imagem 2" descr="Marca – Univesp">
            <a:extLst>
              <a:ext uri="{FF2B5EF4-FFF2-40B4-BE49-F238E27FC236}">
                <a16:creationId xmlns:a16="http://schemas.microsoft.com/office/drawing/2014/main" id="{34304241-AB0D-EF62-1397-9216AB920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00" y="5781949"/>
            <a:ext cx="1926772" cy="107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590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70873-744F-0326-6448-A2E03CE76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0B2CF7B-0661-DF3F-092C-E8E09D6F4DF8}"/>
              </a:ext>
            </a:extLst>
          </p:cNvPr>
          <p:cNvSpPr/>
          <p:nvPr/>
        </p:nvSpPr>
        <p:spPr>
          <a:xfrm rot="5400000">
            <a:off x="8497357" y="258445"/>
            <a:ext cx="914400" cy="380576"/>
          </a:xfrm>
          <a:prstGeom prst="rect">
            <a:avLst/>
          </a:prstGeom>
          <a:solidFill>
            <a:srgbClr val="D13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61F67A8-B6FA-249F-5738-22E80AFAFB55}"/>
              </a:ext>
            </a:extLst>
          </p:cNvPr>
          <p:cNvSpPr/>
          <p:nvPr/>
        </p:nvSpPr>
        <p:spPr>
          <a:xfrm>
            <a:off x="93034" y="236499"/>
            <a:ext cx="5936404" cy="630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2E3BFF5-BCA4-F6EB-6E52-05E361974FA1}"/>
              </a:ext>
            </a:extLst>
          </p:cNvPr>
          <p:cNvSpPr txBox="1"/>
          <p:nvPr/>
        </p:nvSpPr>
        <p:spPr>
          <a:xfrm>
            <a:off x="222249" y="889000"/>
            <a:ext cx="5683250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>
                <a:latin typeface="Times New Roman"/>
                <a:ea typeface="Calibri"/>
                <a:cs typeface="Times New Roman"/>
              </a:rPr>
              <a:t>A metodologia adotada foi ágil e incremental, organizada pelas etapas ouvir, criar e implementar. O grupo levantou necessidades da empresa, priorizou requisitos, prototipou a solução e validou funcionalidades com base em feedback.</a:t>
            </a:r>
            <a:r>
              <a:rPr lang="pt-BR" sz="1600" err="1">
                <a:latin typeface="Times New Roman"/>
                <a:ea typeface="Calibri"/>
                <a:cs typeface="Times New Roman"/>
              </a:rPr>
              <a:t>METODOLOGIA E TECNOLOGIAS</a:t>
            </a:r>
            <a:r>
              <a:rPr lang="pt-BR" sz="1600">
                <a:latin typeface="Times New Roman"/>
                <a:ea typeface="Calibri"/>
                <a:cs typeface="Times New Roman"/>
              </a:rPr>
              <a:t>Entrevistas e observação do ambiente corporativo.</a:t>
            </a:r>
            <a:endParaRPr lang="pt-BR" sz="1600">
              <a:latin typeface="Times New Roman"/>
              <a:cs typeface="Times New Roman"/>
            </a:endParaRPr>
          </a:p>
          <a:p>
            <a:pPr algn="just"/>
            <a:endParaRPr lang="pt-BR" sz="1600" i="1">
              <a:latin typeface="Times New Roman"/>
              <a:ea typeface="Calibri"/>
              <a:cs typeface="Times New Roman"/>
            </a:endParaRPr>
          </a:p>
          <a:p>
            <a:endParaRPr lang="pt-BR">
              <a:latin typeface="Times New Roman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pt-BR" sz="1600">
              <a:latin typeface="Times New Roman"/>
              <a:ea typeface="Calibri"/>
              <a:cs typeface="Calibri"/>
            </a:endParaRPr>
          </a:p>
          <a:p>
            <a:pPr algn="just">
              <a:buFont typeface="Arial"/>
              <a:buChar char="•"/>
            </a:pPr>
            <a:endParaRPr lang="pt-BR" sz="1600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endParaRPr lang="pt-BR">
              <a:latin typeface="Times New Roman"/>
              <a:ea typeface="Calibri"/>
              <a:cs typeface="Calibri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1FE910F-EAD9-C9E7-3CD3-91322D8CD9CF}"/>
              </a:ext>
            </a:extLst>
          </p:cNvPr>
          <p:cNvSpPr txBox="1"/>
          <p:nvPr/>
        </p:nvSpPr>
        <p:spPr>
          <a:xfrm>
            <a:off x="95250" y="349250"/>
            <a:ext cx="612774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latin typeface="Times New Roman"/>
                <a:ea typeface="Calibri"/>
                <a:cs typeface="Calibri"/>
              </a:rPr>
              <a:t>Definição de requisitos funcionais e não funcionais.</a:t>
            </a:r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9911814-47CE-2EE8-F603-855E29356163}"/>
              </a:ext>
            </a:extLst>
          </p:cNvPr>
          <p:cNvSpPr txBox="1"/>
          <p:nvPr/>
        </p:nvSpPr>
        <p:spPr>
          <a:xfrm>
            <a:off x="349249" y="2815166"/>
            <a:ext cx="5281083" cy="30777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pt-BR" sz="1600" i="1">
                <a:latin typeface="Times New Roman"/>
                <a:ea typeface="Calibri"/>
                <a:cs typeface="Times New Roman"/>
              </a:rPr>
              <a:t>Arquitetura com FastAPI, PostgreSQL, SQLAlchemy, Pydantic e Docker Compose.</a:t>
            </a:r>
            <a:endParaRPr lang="pt-BR" sz="16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pt-BR" sz="1600" i="1">
                <a:latin typeface="Times New Roman"/>
                <a:ea typeface="Calibri"/>
                <a:cs typeface="Times New Roman"/>
              </a:rPr>
              <a:t>Ingestão MQTT com Mosquitto e paho-mqtt.</a:t>
            </a:r>
            <a:endParaRPr lang="pt-BR" sz="16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pt-BR" sz="1600" i="1">
                <a:latin typeface="Times New Roman"/>
                <a:ea typeface="Calibri"/>
                <a:cs typeface="Times New Roman"/>
              </a:rPr>
              <a:t>Dashboard protegido por autenticação JWT.</a:t>
            </a:r>
            <a:endParaRPr lang="pt-BR" sz="16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pt-BR" sz="1600" i="1">
                <a:latin typeface="Times New Roman"/>
                <a:ea typeface="Calibri"/>
                <a:cs typeface="Times New Roman"/>
              </a:rPr>
              <a:t>Histórico paginado, alertas, gráfico de horários críticos e simulador de massa histórica.</a:t>
            </a:r>
            <a:endParaRPr lang="pt-BR" sz="16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pt-BR" sz="1600" i="1">
                <a:latin typeface="Times New Roman"/>
                <a:ea typeface="Calibri"/>
                <a:cs typeface="Times New Roman"/>
              </a:rPr>
              <a:t>Testes automatizados dos endpoints principais.</a:t>
            </a:r>
            <a:endParaRPr lang="pt-BR" sz="1600">
              <a:latin typeface="Times New Roman"/>
              <a:ea typeface="Calibri"/>
              <a:cs typeface="Times New Roman"/>
            </a:endParaRPr>
          </a:p>
          <a:p>
            <a:pPr marL="742950" lvl="1" indent="-285750">
              <a:buFont typeface="Courier New"/>
              <a:buChar char="o"/>
            </a:pPr>
            <a:r>
              <a:rPr lang="pt-BR" sz="1600" i="1">
                <a:latin typeface="Times New Roman"/>
                <a:ea typeface="Calibri"/>
                <a:cs typeface="Times New Roman"/>
              </a:rPr>
              <a:t>Validação e ajustes para evolução contínua do protótipo.</a:t>
            </a:r>
            <a:endParaRPr lang="pt-BR" sz="16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pt-BR" sz="1600" i="1">
                <a:latin typeface="Times New Roman"/>
                <a:ea typeface="Calibri"/>
                <a:cs typeface="Times New Roman"/>
              </a:rPr>
              <a:t/>
            </a:r>
            <a:endParaRPr lang="pt-BR" sz="1600">
              <a:latin typeface="Times New Roman"/>
              <a:ea typeface="Calibri"/>
              <a:cs typeface="Times New Roman"/>
            </a:endParaRPr>
          </a:p>
          <a:p>
            <a:pPr marL="742950" lvl="1" indent="-285750">
              <a:buFont typeface="Courier New"/>
              <a:buChar char="o"/>
            </a:pPr>
            <a:r>
              <a:rPr lang="pt-BR" sz="1600" i="1">
                <a:latin typeface="Times New Roman"/>
                <a:ea typeface="Calibri"/>
                <a:cs typeface="Times New Roman"/>
              </a:rPr>
              <a:t/>
            </a:r>
            <a:endParaRPr lang="pt-BR" sz="16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pt-BR" sz="1600" i="1">
                <a:latin typeface="Times New Roman"/>
                <a:ea typeface="Calibri"/>
                <a:cs typeface="Times New Roman"/>
              </a:rPr>
              <a:t/>
            </a:r>
            <a:endParaRPr lang="pt-BR" sz="16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pt-BR" sz="1600" i="1">
                <a:latin typeface="Times New Roman"/>
                <a:ea typeface="Calibri"/>
                <a:cs typeface="Times New Roman"/>
              </a:rPr>
              <a:t/>
            </a:r>
            <a:endParaRPr lang="pt-BR" sz="1600">
              <a:latin typeface="Calibri"/>
              <a:ea typeface="Calibri"/>
              <a:cs typeface="Calibri"/>
            </a:endParaRPr>
          </a:p>
          <a:p>
            <a:pPr marL="742950" lvl="1" indent="-285750">
              <a:buFont typeface="Courier New"/>
              <a:buChar char="o"/>
            </a:pPr>
            <a:r>
              <a:rPr lang="pt-BR" sz="1600" i="1">
                <a:latin typeface="Times New Roman"/>
                <a:ea typeface="Calibri"/>
                <a:cs typeface="Times New Roman"/>
              </a:rPr>
              <a:t/>
            </a:r>
            <a:endParaRPr lang="pt-BR" sz="1600">
              <a:ea typeface="Calibri"/>
              <a:cs typeface="Calibri"/>
            </a:endParaRPr>
          </a:p>
          <a:p>
            <a:pPr algn="l"/>
            <a:endParaRPr lang="pt-BR">
              <a:ea typeface="Calibri"/>
              <a:cs typeface="Calibri"/>
            </a:endParaRPr>
          </a:p>
        </p:txBody>
      </p:sp>
      <p:pic>
        <p:nvPicPr>
          <p:cNvPr id="4" name="Imagem 3" descr="Marca – Univesp">
            <a:extLst>
              <a:ext uri="{FF2B5EF4-FFF2-40B4-BE49-F238E27FC236}">
                <a16:creationId xmlns:a16="http://schemas.microsoft.com/office/drawing/2014/main" id="{CF9693E2-F351-D8E6-DA8B-A0F8E7269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00" y="5781949"/>
            <a:ext cx="1926772" cy="107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537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01106E-DD21-EC41-50A1-2B16AAF64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B1C20D3-B2AC-9CF7-703F-37C7830FAAA9}"/>
              </a:ext>
            </a:extLst>
          </p:cNvPr>
          <p:cNvSpPr/>
          <p:nvPr/>
        </p:nvSpPr>
        <p:spPr>
          <a:xfrm rot="5400000">
            <a:off x="8497357" y="258445"/>
            <a:ext cx="914400" cy="380576"/>
          </a:xfrm>
          <a:prstGeom prst="rect">
            <a:avLst/>
          </a:prstGeom>
          <a:solidFill>
            <a:srgbClr val="D13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E20267B-2EB9-4285-E6D3-40DDD380C48A}"/>
              </a:ext>
            </a:extLst>
          </p:cNvPr>
          <p:cNvSpPr/>
          <p:nvPr/>
        </p:nvSpPr>
        <p:spPr>
          <a:xfrm>
            <a:off x="93034" y="236499"/>
            <a:ext cx="5936404" cy="630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F90BFAF-6A63-E48C-8DC4-CC2AB4683EB8}"/>
              </a:ext>
            </a:extLst>
          </p:cNvPr>
          <p:cNvSpPr txBox="1"/>
          <p:nvPr/>
        </p:nvSpPr>
        <p:spPr>
          <a:xfrm>
            <a:off x="222249" y="889000"/>
            <a:ext cx="5683250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t-BR" sz="1600">
                <a:latin typeface="Times New Roman"/>
                <a:ea typeface="Calibri"/>
                <a:cs typeface="Calibri"/>
              </a:rPr>
              <a:t>O protótipo funcional já permite cadastrar e consultar leituras ambientais, visualizar métricas atuais, acompanhar histórico e identificar alertas. A classificação automática considera temperatura, umidade, CO2 e PM2.5, adotando o pior status entre ideal, aceitável, alerta e crítico. O dashboard apresenta status geral, recomendações, últimas leituras, gráficos e atualização de dados simulados. Os resultados preliminares indicam viabilidade para apoiar conforto térmico, manutenção preventiva e decisões de climatização.</a:t>
            </a:r>
            <a:endParaRPr lang="pt-BR" sz="1600">
              <a:latin typeface="Times New Roman"/>
              <a:ea typeface="Calibri"/>
              <a:cs typeface="Times New Roman"/>
            </a:endParaRPr>
          </a:p>
          <a:p>
            <a:pPr algn="just"/>
            <a:endParaRPr lang="pt-BR" sz="1600">
              <a:latin typeface="Times New Roman"/>
              <a:ea typeface="Calibri"/>
              <a:cs typeface="Calibri"/>
            </a:endParaRPr>
          </a:p>
          <a:p>
            <a:pPr algn="just"/>
            <a:endParaRPr lang="pt-BR" sz="1600">
              <a:latin typeface="Times New Roman"/>
              <a:ea typeface="Calibri"/>
              <a:cs typeface="Times New Roman"/>
            </a:endParaRPr>
          </a:p>
          <a:p>
            <a:pPr algn="just"/>
            <a:endParaRPr lang="pt-BR" sz="1600" i="1">
              <a:latin typeface="Times New Roman"/>
              <a:ea typeface="Calibri"/>
              <a:cs typeface="Times New Roman"/>
            </a:endParaRPr>
          </a:p>
          <a:p>
            <a:endParaRPr lang="pt-BR">
              <a:latin typeface="Times New Roman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pt-BR" sz="1600">
              <a:latin typeface="Times New Roman"/>
              <a:ea typeface="Calibri"/>
              <a:cs typeface="Calibri"/>
            </a:endParaRPr>
          </a:p>
          <a:p>
            <a:pPr algn="just">
              <a:buFont typeface="Arial"/>
              <a:buChar char="•"/>
            </a:pPr>
            <a:endParaRPr lang="pt-BR" sz="1600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endParaRPr lang="pt-BR">
              <a:latin typeface="Times New Roman"/>
              <a:ea typeface="Calibri"/>
              <a:cs typeface="Calibri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F1FE456-20CE-B70B-2005-D755F234018E}"/>
              </a:ext>
            </a:extLst>
          </p:cNvPr>
          <p:cNvSpPr txBox="1"/>
          <p:nvPr/>
        </p:nvSpPr>
        <p:spPr>
          <a:xfrm>
            <a:off x="95250" y="349250"/>
            <a:ext cx="612774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latin typeface="Times New Roman"/>
                <a:ea typeface="Calibri"/>
                <a:cs typeface="Calibri"/>
              </a:rPr>
              <a:t>RESULTADOS PRELIMINARES</a:t>
            </a:r>
          </a:p>
        </p:txBody>
      </p:sp>
      <p:pic>
        <p:nvPicPr>
          <p:cNvPr id="3" name="Imagem 2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465285E1-B9C8-BF65-BB5A-A5A0292F3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392" y="2677090"/>
            <a:ext cx="2239141" cy="1829431"/>
          </a:xfrm>
          <a:prstGeom prst="rect">
            <a:avLst/>
          </a:prstGeom>
        </p:spPr>
      </p:pic>
      <p:pic>
        <p:nvPicPr>
          <p:cNvPr id="4" name="Imagem 3" descr="Marca – Univesp">
            <a:extLst>
              <a:ext uri="{FF2B5EF4-FFF2-40B4-BE49-F238E27FC236}">
                <a16:creationId xmlns:a16="http://schemas.microsoft.com/office/drawing/2014/main" id="{09442F8D-C869-11A8-08EC-DBAE6D78F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0" y="5781949"/>
            <a:ext cx="1926772" cy="1079082"/>
          </a:xfrm>
          <a:prstGeom prst="rect">
            <a:avLst/>
          </a:prstGeom>
        </p:spPr>
      </p:pic>
      <p:pic>
        <p:nvPicPr>
          <p:cNvPr id="6" name="Imagem 5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90A80CA6-E9F2-8748-2D01-036D7AE553F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839" r="8511" b="-645"/>
          <a:stretch>
            <a:fillRect/>
          </a:stretch>
        </p:blipFill>
        <p:spPr>
          <a:xfrm>
            <a:off x="620219" y="2677091"/>
            <a:ext cx="2237196" cy="1829258"/>
          </a:xfrm>
          <a:prstGeom prst="rect">
            <a:avLst/>
          </a:prstGeom>
        </p:spPr>
      </p:pic>
      <p:pic>
        <p:nvPicPr>
          <p:cNvPr id="2" name="Imagem 1" descr="Interface gráfica do usuário, Texto, Aplicativo, chat ou mensagem de texto&#10;&#10;O conteúdo gerado por IA pode estar incorreto.">
            <a:extLst>
              <a:ext uri="{FF2B5EF4-FFF2-40B4-BE49-F238E27FC236}">
                <a16:creationId xmlns:a16="http://schemas.microsoft.com/office/drawing/2014/main" id="{5AFC584C-4ADA-3D40-4BCF-05AAA84308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4292" y="4616169"/>
            <a:ext cx="3167367" cy="183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863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80516" y="2204288"/>
            <a:ext cx="3173240" cy="95410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rPr lang="pt-BR"/>
              <a:t>Obrigado</a:t>
            </a:r>
            <a:r>
              <a:t>!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3566160"/>
            <a:ext cx="2743200" cy="164592"/>
          </a:xfrm>
          <a:prstGeom prst="rect">
            <a:avLst/>
          </a:prstGeom>
          <a:solidFill>
            <a:srgbClr val="D13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Imagem 4" descr="Marca – Univesp">
            <a:extLst>
              <a:ext uri="{FF2B5EF4-FFF2-40B4-BE49-F238E27FC236}">
                <a16:creationId xmlns:a16="http://schemas.microsoft.com/office/drawing/2014/main" id="{3D3E7C2D-5CBB-2F7B-E019-569FE6BC9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00" y="5781949"/>
            <a:ext cx="1926772" cy="1079082"/>
          </a:xfrm>
          <a:prstGeom prst="rect">
            <a:avLst/>
          </a:prstGeom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5A92AA52-CE75-8273-EAC8-96C7E3BDA4EF}"/>
              </a:ext>
            </a:extLst>
          </p:cNvPr>
          <p:cNvSpPr/>
          <p:nvPr/>
        </p:nvSpPr>
        <p:spPr>
          <a:xfrm rot="5400000">
            <a:off x="8497357" y="270108"/>
            <a:ext cx="914400" cy="380576"/>
          </a:xfrm>
          <a:prstGeom prst="rect">
            <a:avLst/>
          </a:prstGeom>
          <a:solidFill>
            <a:srgbClr val="D13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(4:3)</PresentationFormat>
  <Slides>9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0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2</cp:revision>
  <dcterms:created xsi:type="dcterms:W3CDTF">2013-01-27T09:14:16Z</dcterms:created>
  <dcterms:modified xsi:type="dcterms:W3CDTF">2025-11-15T01:42:26Z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8104b14-b53d-46de-9ae8-975cc0e84815_Enabled">
    <vt:lpwstr>true</vt:lpwstr>
  </property>
  <property fmtid="{D5CDD505-2E9C-101B-9397-08002B2CF9AE}" pid="3" name="MSIP_Label_68104b14-b53d-46de-9ae8-975cc0e84815_SetDate">
    <vt:lpwstr>2025-11-01T23:29:19Z</vt:lpwstr>
  </property>
  <property fmtid="{D5CDD505-2E9C-101B-9397-08002B2CF9AE}" pid="4" name="MSIP_Label_68104b14-b53d-46de-9ae8-975cc0e84815_Method">
    <vt:lpwstr>Privileged</vt:lpwstr>
  </property>
  <property fmtid="{D5CDD505-2E9C-101B-9397-08002B2CF9AE}" pid="5" name="MSIP_Label_68104b14-b53d-46de-9ae8-975cc0e84815_Name">
    <vt:lpwstr>ABI_MIP_InternalUseOnly</vt:lpwstr>
  </property>
  <property fmtid="{D5CDD505-2E9C-101B-9397-08002B2CF9AE}" pid="6" name="MSIP_Label_68104b14-b53d-46de-9ae8-975cc0e84815_SiteId">
    <vt:lpwstr>cef04b19-7776-4a94-b89b-375c77a8f936</vt:lpwstr>
  </property>
  <property fmtid="{D5CDD505-2E9C-101B-9397-08002B2CF9AE}" pid="7" name="MSIP_Label_68104b14-b53d-46de-9ae8-975cc0e84815_ActionId">
    <vt:lpwstr>a3df50f0-bd8c-40c7-af53-b51537864b46</vt:lpwstr>
  </property>
  <property fmtid="{D5CDD505-2E9C-101B-9397-08002B2CF9AE}" pid="8" name="MSIP_Label_68104b14-b53d-46de-9ae8-975cc0e84815_ContentBits">
    <vt:lpwstr>0</vt:lpwstr>
  </property>
</Properties>
</file>